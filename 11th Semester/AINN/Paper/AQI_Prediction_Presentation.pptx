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webp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web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3A16D9-94A6-4A9E-8327-8E3F9F1C02E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9DB64BAC-5F3D-40C3-AA7A-8D9F0A8402B4}">
      <dgm:prSet phldrT="[Text]"/>
      <dgm:spPr/>
      <dgm:t>
        <a:bodyPr/>
        <a:lstStyle/>
        <a:p>
          <a:r>
            <a:rPr lang="en-US" dirty="0" smtClean="0"/>
            <a:t>Md. Soumik Hasan</a:t>
          </a:r>
        </a:p>
        <a:p>
          <a:r>
            <a:rPr lang="en-US" dirty="0" smtClean="0"/>
            <a:t>Roll: 34</a:t>
          </a:r>
          <a:endParaRPr lang="en-US" dirty="0"/>
        </a:p>
      </dgm:t>
    </dgm:pt>
    <dgm:pt modelId="{0985A4F8-3796-4C95-AA69-FAC63313564B}" type="parTrans" cxnId="{0748D57E-68F4-4FE3-BA92-9A5AFA4558E4}">
      <dgm:prSet/>
      <dgm:spPr/>
      <dgm:t>
        <a:bodyPr/>
        <a:lstStyle/>
        <a:p>
          <a:endParaRPr lang="en-US"/>
        </a:p>
      </dgm:t>
    </dgm:pt>
    <dgm:pt modelId="{DDA0246F-4EA7-4931-A944-4E5733086E20}" type="sibTrans" cxnId="{0748D57E-68F4-4FE3-BA92-9A5AFA4558E4}">
      <dgm:prSet/>
      <dgm:spPr/>
      <dgm:t>
        <a:bodyPr/>
        <a:lstStyle/>
        <a:p>
          <a:endParaRPr lang="en-US"/>
        </a:p>
      </dgm:t>
    </dgm:pt>
    <dgm:pt modelId="{9C5CA200-60CA-47F5-BEE4-0754C66C4F78}">
      <dgm:prSet phldrT="[Text]"/>
      <dgm:spPr/>
      <dgm:t>
        <a:bodyPr/>
        <a:lstStyle/>
        <a:p>
          <a:r>
            <a:rPr lang="en-US" dirty="0" smtClean="0"/>
            <a:t>Md. </a:t>
          </a:r>
          <a:r>
            <a:rPr lang="en-US" dirty="0" err="1" smtClean="0"/>
            <a:t>Shariar</a:t>
          </a:r>
          <a:r>
            <a:rPr lang="en-US" dirty="0" smtClean="0"/>
            <a:t> Bin </a:t>
          </a:r>
          <a:r>
            <a:rPr lang="en-US" dirty="0" err="1" smtClean="0"/>
            <a:t>Sajjad</a:t>
          </a:r>
          <a:endParaRPr lang="en-US" dirty="0" smtClean="0"/>
        </a:p>
        <a:p>
          <a:r>
            <a:rPr lang="en-US" dirty="0" smtClean="0"/>
            <a:t>Roll: 29</a:t>
          </a:r>
          <a:endParaRPr lang="en-US" dirty="0"/>
        </a:p>
      </dgm:t>
    </dgm:pt>
    <dgm:pt modelId="{84885551-B853-4540-B0CF-CC33D4C67AA5}" type="parTrans" cxnId="{76274E70-88A6-4AA2-84F7-F70D0972A18C}">
      <dgm:prSet/>
      <dgm:spPr/>
      <dgm:t>
        <a:bodyPr/>
        <a:lstStyle/>
        <a:p>
          <a:endParaRPr lang="en-US"/>
        </a:p>
      </dgm:t>
    </dgm:pt>
    <dgm:pt modelId="{1E406C50-DB4E-4654-969D-DC47E7C5045F}" type="sibTrans" cxnId="{76274E70-88A6-4AA2-84F7-F70D0972A18C}">
      <dgm:prSet/>
      <dgm:spPr/>
      <dgm:t>
        <a:bodyPr/>
        <a:lstStyle/>
        <a:p>
          <a:endParaRPr lang="en-US"/>
        </a:p>
      </dgm:t>
    </dgm:pt>
    <dgm:pt modelId="{D7F4112B-8C74-45F2-BFD5-62C5FF074202}" type="pres">
      <dgm:prSet presAssocID="{F43A16D9-94A6-4A9E-8327-8E3F9F1C02E0}" presName="linearFlow" presStyleCnt="0">
        <dgm:presLayoutVars>
          <dgm:dir/>
          <dgm:resizeHandles val="exact"/>
        </dgm:presLayoutVars>
      </dgm:prSet>
      <dgm:spPr/>
    </dgm:pt>
    <dgm:pt modelId="{2720FB04-A9D2-4A6A-863F-CE27D35B5D8C}" type="pres">
      <dgm:prSet presAssocID="{9DB64BAC-5F3D-40C3-AA7A-8D9F0A8402B4}" presName="composite" presStyleCnt="0"/>
      <dgm:spPr/>
    </dgm:pt>
    <dgm:pt modelId="{FAB0CC77-1B1E-4674-A407-802E1986D644}" type="pres">
      <dgm:prSet presAssocID="{9DB64BAC-5F3D-40C3-AA7A-8D9F0A8402B4}" presName="imgShp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09415ED-E9AC-4A29-9027-E9545304FC5E}" type="pres">
      <dgm:prSet presAssocID="{9DB64BAC-5F3D-40C3-AA7A-8D9F0A8402B4}" presName="txShp" presStyleLbl="node1" presStyleIdx="0" presStyleCnt="2" custScaleX="983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98A786-E6B8-400A-95C2-7513726BB880}" type="pres">
      <dgm:prSet presAssocID="{DDA0246F-4EA7-4931-A944-4E5733086E20}" presName="spacing" presStyleCnt="0"/>
      <dgm:spPr/>
    </dgm:pt>
    <dgm:pt modelId="{869FD4DC-A97E-4F5A-83F4-EAE2BAA7E90C}" type="pres">
      <dgm:prSet presAssocID="{9C5CA200-60CA-47F5-BEE4-0754C66C4F78}" presName="composite" presStyleCnt="0"/>
      <dgm:spPr/>
    </dgm:pt>
    <dgm:pt modelId="{886EBF6B-54D1-4968-A7EB-6A3438DDC027}" type="pres">
      <dgm:prSet presAssocID="{9C5CA200-60CA-47F5-BEE4-0754C66C4F78}" presName="imgShp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216CF70-E724-4DCE-844E-BFE7152A83E4}" type="pres">
      <dgm:prSet presAssocID="{9C5CA200-60CA-47F5-BEE4-0754C66C4F78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26C815-94F2-4E84-B0E4-D5D909FD272B}" type="presOf" srcId="{9DB64BAC-5F3D-40C3-AA7A-8D9F0A8402B4}" destId="{109415ED-E9AC-4A29-9027-E9545304FC5E}" srcOrd="0" destOrd="0" presId="urn:microsoft.com/office/officeart/2005/8/layout/vList3"/>
    <dgm:cxn modelId="{9121C0E4-272C-43C3-862A-37F68B2EF981}" type="presOf" srcId="{9C5CA200-60CA-47F5-BEE4-0754C66C4F78}" destId="{9216CF70-E724-4DCE-844E-BFE7152A83E4}" srcOrd="0" destOrd="0" presId="urn:microsoft.com/office/officeart/2005/8/layout/vList3"/>
    <dgm:cxn modelId="{76274E70-88A6-4AA2-84F7-F70D0972A18C}" srcId="{F43A16D9-94A6-4A9E-8327-8E3F9F1C02E0}" destId="{9C5CA200-60CA-47F5-BEE4-0754C66C4F78}" srcOrd="1" destOrd="0" parTransId="{84885551-B853-4540-B0CF-CC33D4C67AA5}" sibTransId="{1E406C50-DB4E-4654-969D-DC47E7C5045F}"/>
    <dgm:cxn modelId="{0748D57E-68F4-4FE3-BA92-9A5AFA4558E4}" srcId="{F43A16D9-94A6-4A9E-8327-8E3F9F1C02E0}" destId="{9DB64BAC-5F3D-40C3-AA7A-8D9F0A8402B4}" srcOrd="0" destOrd="0" parTransId="{0985A4F8-3796-4C95-AA69-FAC63313564B}" sibTransId="{DDA0246F-4EA7-4931-A944-4E5733086E20}"/>
    <dgm:cxn modelId="{2D8B3C9C-ADF5-481C-8F69-13B7E0C0AA2F}" type="presOf" srcId="{F43A16D9-94A6-4A9E-8327-8E3F9F1C02E0}" destId="{D7F4112B-8C74-45F2-BFD5-62C5FF074202}" srcOrd="0" destOrd="0" presId="urn:microsoft.com/office/officeart/2005/8/layout/vList3"/>
    <dgm:cxn modelId="{985F6E8A-CAE1-46A7-B841-FCC91886C647}" type="presParOf" srcId="{D7F4112B-8C74-45F2-BFD5-62C5FF074202}" destId="{2720FB04-A9D2-4A6A-863F-CE27D35B5D8C}" srcOrd="0" destOrd="0" presId="urn:microsoft.com/office/officeart/2005/8/layout/vList3"/>
    <dgm:cxn modelId="{64DD58EE-9B95-46EC-B1BD-AE0AA8D05158}" type="presParOf" srcId="{2720FB04-A9D2-4A6A-863F-CE27D35B5D8C}" destId="{FAB0CC77-1B1E-4674-A407-802E1986D644}" srcOrd="0" destOrd="0" presId="urn:microsoft.com/office/officeart/2005/8/layout/vList3"/>
    <dgm:cxn modelId="{05C2124B-CFC4-49B7-A3ED-C8DC9275AD8E}" type="presParOf" srcId="{2720FB04-A9D2-4A6A-863F-CE27D35B5D8C}" destId="{109415ED-E9AC-4A29-9027-E9545304FC5E}" srcOrd="1" destOrd="0" presId="urn:microsoft.com/office/officeart/2005/8/layout/vList3"/>
    <dgm:cxn modelId="{8FAC5410-4847-4C3E-B55E-203BFC4E4753}" type="presParOf" srcId="{D7F4112B-8C74-45F2-BFD5-62C5FF074202}" destId="{E798A786-E6B8-400A-95C2-7513726BB880}" srcOrd="1" destOrd="0" presId="urn:microsoft.com/office/officeart/2005/8/layout/vList3"/>
    <dgm:cxn modelId="{895C4C9E-010E-4312-AD55-30158CD8DA00}" type="presParOf" srcId="{D7F4112B-8C74-45F2-BFD5-62C5FF074202}" destId="{869FD4DC-A97E-4F5A-83F4-EAE2BAA7E90C}" srcOrd="2" destOrd="0" presId="urn:microsoft.com/office/officeart/2005/8/layout/vList3"/>
    <dgm:cxn modelId="{43CBB999-9D77-4442-AB49-558492BB248B}" type="presParOf" srcId="{869FD4DC-A97E-4F5A-83F4-EAE2BAA7E90C}" destId="{886EBF6B-54D1-4968-A7EB-6A3438DDC027}" srcOrd="0" destOrd="0" presId="urn:microsoft.com/office/officeart/2005/8/layout/vList3"/>
    <dgm:cxn modelId="{862C8776-073B-4A22-8422-571AD4AD196C}" type="presParOf" srcId="{869FD4DC-A97E-4F5A-83F4-EAE2BAA7E90C}" destId="{9216CF70-E724-4DCE-844E-BFE7152A83E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85E66B-2D7D-4271-872F-3ACBB5B2776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9D6879-F540-4D8F-819D-7ACF490BFF11}">
      <dgm:prSet phldrT="[Text]" custT="1"/>
      <dgm:spPr/>
      <dgm:t>
        <a:bodyPr/>
        <a:lstStyle/>
        <a:p>
          <a:r>
            <a:rPr lang="en-US" sz="1800" dirty="0" smtClean="0"/>
            <a:t>Bagging Classifier</a:t>
          </a:r>
          <a:endParaRPr lang="en-US" sz="1800" dirty="0"/>
        </a:p>
      </dgm:t>
    </dgm:pt>
    <dgm:pt modelId="{68FB4178-1DCF-4B8A-BBEF-1CD2C3B0D103}" type="parTrans" cxnId="{44560CAA-BFA3-4DCA-8307-CEDD5B5CEABA}">
      <dgm:prSet/>
      <dgm:spPr/>
      <dgm:t>
        <a:bodyPr/>
        <a:lstStyle/>
        <a:p>
          <a:endParaRPr lang="en-US"/>
        </a:p>
      </dgm:t>
    </dgm:pt>
    <dgm:pt modelId="{587FAB49-707C-4802-B7FA-A77E1FE0C206}" type="sibTrans" cxnId="{44560CAA-BFA3-4DCA-8307-CEDD5B5CEABA}">
      <dgm:prSet/>
      <dgm:spPr/>
      <dgm:t>
        <a:bodyPr/>
        <a:lstStyle/>
        <a:p>
          <a:endParaRPr lang="en-US"/>
        </a:p>
      </dgm:t>
    </dgm:pt>
    <dgm:pt modelId="{9F060712-9D91-4CAE-BE97-53CA258CC30D}">
      <dgm:prSet phldrT="[Text]" custT="1"/>
      <dgm:spPr/>
      <dgm:t>
        <a:bodyPr/>
        <a:lstStyle/>
        <a:p>
          <a:r>
            <a:rPr lang="en-US" sz="1800" dirty="0" err="1" smtClean="0"/>
            <a:t>AdaBoost</a:t>
          </a:r>
          <a:endParaRPr lang="en-US" sz="1800" dirty="0"/>
        </a:p>
      </dgm:t>
    </dgm:pt>
    <dgm:pt modelId="{7B825AFC-6620-4C4F-9A53-A8AE27869B3C}" type="parTrans" cxnId="{E74B13EF-0334-4A6C-BD43-CEB2C83E8BBB}">
      <dgm:prSet/>
      <dgm:spPr/>
      <dgm:t>
        <a:bodyPr/>
        <a:lstStyle/>
        <a:p>
          <a:endParaRPr lang="en-US"/>
        </a:p>
      </dgm:t>
    </dgm:pt>
    <dgm:pt modelId="{50772421-8798-4820-A890-8238524A5F0C}" type="sibTrans" cxnId="{E74B13EF-0334-4A6C-BD43-CEB2C83E8BBB}">
      <dgm:prSet/>
      <dgm:spPr/>
      <dgm:t>
        <a:bodyPr/>
        <a:lstStyle/>
        <a:p>
          <a:endParaRPr lang="en-US"/>
        </a:p>
      </dgm:t>
    </dgm:pt>
    <dgm:pt modelId="{CB065F05-4D27-47B5-8600-1A6C3F66BACE}">
      <dgm:prSet phldrT="[Text]" custT="1"/>
      <dgm:spPr/>
      <dgm:t>
        <a:bodyPr/>
        <a:lstStyle/>
        <a:p>
          <a:r>
            <a:rPr lang="en-US" sz="1800" dirty="0" smtClean="0"/>
            <a:t>Gradient Boosting</a:t>
          </a:r>
          <a:endParaRPr lang="en-US" sz="1800" dirty="0"/>
        </a:p>
      </dgm:t>
    </dgm:pt>
    <dgm:pt modelId="{3E60130E-25D7-4051-8678-C92703C1E012}" type="parTrans" cxnId="{6333617D-67C6-4425-B102-A45D16874FD6}">
      <dgm:prSet/>
      <dgm:spPr/>
      <dgm:t>
        <a:bodyPr/>
        <a:lstStyle/>
        <a:p>
          <a:endParaRPr lang="en-US"/>
        </a:p>
      </dgm:t>
    </dgm:pt>
    <dgm:pt modelId="{A207F2A7-6DC0-4E39-914F-DFF93E22E589}" type="sibTrans" cxnId="{6333617D-67C6-4425-B102-A45D16874FD6}">
      <dgm:prSet/>
      <dgm:spPr/>
      <dgm:t>
        <a:bodyPr/>
        <a:lstStyle/>
        <a:p>
          <a:endParaRPr lang="en-US"/>
        </a:p>
      </dgm:t>
    </dgm:pt>
    <dgm:pt modelId="{9C2C059D-5857-46F3-AD2E-0FCD480CF349}">
      <dgm:prSet phldrT="[Text]" custT="1"/>
      <dgm:spPr/>
      <dgm:t>
        <a:bodyPr/>
        <a:lstStyle/>
        <a:p>
          <a:r>
            <a:rPr lang="en-US" sz="1800" dirty="0" smtClean="0"/>
            <a:t>Decision Tree</a:t>
          </a:r>
          <a:endParaRPr lang="en-US" sz="1800" dirty="0"/>
        </a:p>
      </dgm:t>
    </dgm:pt>
    <dgm:pt modelId="{A50D7C60-7C77-4AE2-926E-E4489B816A95}" type="parTrans" cxnId="{2E4D9105-6BC9-4AF8-8658-49C6D491AC5E}">
      <dgm:prSet/>
      <dgm:spPr/>
      <dgm:t>
        <a:bodyPr/>
        <a:lstStyle/>
        <a:p>
          <a:endParaRPr lang="en-US"/>
        </a:p>
      </dgm:t>
    </dgm:pt>
    <dgm:pt modelId="{0B9E370E-6E4C-4069-BC85-B2C7D1ACC6A5}" type="sibTrans" cxnId="{2E4D9105-6BC9-4AF8-8658-49C6D491AC5E}">
      <dgm:prSet/>
      <dgm:spPr/>
      <dgm:t>
        <a:bodyPr/>
        <a:lstStyle/>
        <a:p>
          <a:endParaRPr lang="en-US"/>
        </a:p>
      </dgm:t>
    </dgm:pt>
    <dgm:pt modelId="{53E3D94A-4F11-4503-BBA2-62ECF11612EA}">
      <dgm:prSet custT="1"/>
      <dgm:spPr/>
      <dgm:t>
        <a:bodyPr/>
        <a:lstStyle/>
        <a:p>
          <a:r>
            <a:rPr lang="en-US" sz="1800" smtClean="0"/>
            <a:t>Extra Trees</a:t>
          </a:r>
          <a:endParaRPr lang="en-US" sz="1800"/>
        </a:p>
      </dgm:t>
    </dgm:pt>
    <dgm:pt modelId="{5B0D6859-342E-467F-A53F-9846BCD43C94}" type="parTrans" cxnId="{5D6E05E9-3A49-4CF2-8CB6-BFE50B3AB95F}">
      <dgm:prSet/>
      <dgm:spPr/>
      <dgm:t>
        <a:bodyPr/>
        <a:lstStyle/>
        <a:p>
          <a:endParaRPr lang="en-US"/>
        </a:p>
      </dgm:t>
    </dgm:pt>
    <dgm:pt modelId="{5F20CFC0-4B49-4ECC-8F16-12B4BF348C24}" type="sibTrans" cxnId="{5D6E05E9-3A49-4CF2-8CB6-BFE50B3AB95F}">
      <dgm:prSet/>
      <dgm:spPr/>
      <dgm:t>
        <a:bodyPr/>
        <a:lstStyle/>
        <a:p>
          <a:endParaRPr lang="en-US"/>
        </a:p>
      </dgm:t>
    </dgm:pt>
    <dgm:pt modelId="{AD7F6EA6-29AD-4774-A09C-D384ED44DB6D}" type="pres">
      <dgm:prSet presAssocID="{6A85E66B-2D7D-4271-872F-3ACBB5B2776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DAE7D90-E9FF-4C18-A708-DBCA8A267D15}" type="pres">
      <dgm:prSet presAssocID="{479D6879-F540-4D8F-819D-7ACF490BFF11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2E0038-642D-435B-B152-E62805A15871}" type="pres">
      <dgm:prSet presAssocID="{587FAB49-707C-4802-B7FA-A77E1FE0C206}" presName="parTxOnlySpace" presStyleCnt="0"/>
      <dgm:spPr/>
    </dgm:pt>
    <dgm:pt modelId="{630F6E75-E4D1-4F28-9795-D25A06F19DBF}" type="pres">
      <dgm:prSet presAssocID="{9F060712-9D91-4CAE-BE97-53CA258CC30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055195-3DD0-4D63-8D89-12C1AF85AE8B}" type="pres">
      <dgm:prSet presAssocID="{50772421-8798-4820-A890-8238524A5F0C}" presName="parTxOnlySpace" presStyleCnt="0"/>
      <dgm:spPr/>
    </dgm:pt>
    <dgm:pt modelId="{86685E95-69C2-426F-B4E5-1E03CADD0200}" type="pres">
      <dgm:prSet presAssocID="{CB065F05-4D27-47B5-8600-1A6C3F66BACE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6D6C8F-467C-4B8B-A599-BAA6A6B93A8B}" type="pres">
      <dgm:prSet presAssocID="{A207F2A7-6DC0-4E39-914F-DFF93E22E589}" presName="parTxOnlySpace" presStyleCnt="0"/>
      <dgm:spPr/>
    </dgm:pt>
    <dgm:pt modelId="{F9FA1C0D-B94C-4474-BE84-EFC88A097BA3}" type="pres">
      <dgm:prSet presAssocID="{53E3D94A-4F11-4503-BBA2-62ECF11612E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36CF8D-1DFB-496B-A861-E826E2BDABD8}" type="pres">
      <dgm:prSet presAssocID="{5F20CFC0-4B49-4ECC-8F16-12B4BF348C24}" presName="parTxOnlySpace" presStyleCnt="0"/>
      <dgm:spPr/>
    </dgm:pt>
    <dgm:pt modelId="{5F4BB1B1-72AA-4967-AC2B-68037A0A01D9}" type="pres">
      <dgm:prSet presAssocID="{9C2C059D-5857-46F3-AD2E-0FCD480CF34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6E05E9-3A49-4CF2-8CB6-BFE50B3AB95F}" srcId="{6A85E66B-2D7D-4271-872F-3ACBB5B2776C}" destId="{53E3D94A-4F11-4503-BBA2-62ECF11612EA}" srcOrd="3" destOrd="0" parTransId="{5B0D6859-342E-467F-A53F-9846BCD43C94}" sibTransId="{5F20CFC0-4B49-4ECC-8F16-12B4BF348C24}"/>
    <dgm:cxn modelId="{10010F4A-5BBD-4999-BE7A-2C2E4840B09C}" type="presOf" srcId="{9F060712-9D91-4CAE-BE97-53CA258CC30D}" destId="{630F6E75-E4D1-4F28-9795-D25A06F19DBF}" srcOrd="0" destOrd="0" presId="urn:microsoft.com/office/officeart/2005/8/layout/chevron1"/>
    <dgm:cxn modelId="{3D24EDDE-2877-4FF1-BC7E-80B6505702F7}" type="presOf" srcId="{53E3D94A-4F11-4503-BBA2-62ECF11612EA}" destId="{F9FA1C0D-B94C-4474-BE84-EFC88A097BA3}" srcOrd="0" destOrd="0" presId="urn:microsoft.com/office/officeart/2005/8/layout/chevron1"/>
    <dgm:cxn modelId="{D1B62692-3265-49F3-8AC3-37A1853B0825}" type="presOf" srcId="{9C2C059D-5857-46F3-AD2E-0FCD480CF349}" destId="{5F4BB1B1-72AA-4967-AC2B-68037A0A01D9}" srcOrd="0" destOrd="0" presId="urn:microsoft.com/office/officeart/2005/8/layout/chevron1"/>
    <dgm:cxn modelId="{E74B13EF-0334-4A6C-BD43-CEB2C83E8BBB}" srcId="{6A85E66B-2D7D-4271-872F-3ACBB5B2776C}" destId="{9F060712-9D91-4CAE-BE97-53CA258CC30D}" srcOrd="1" destOrd="0" parTransId="{7B825AFC-6620-4C4F-9A53-A8AE27869B3C}" sibTransId="{50772421-8798-4820-A890-8238524A5F0C}"/>
    <dgm:cxn modelId="{6333617D-67C6-4425-B102-A45D16874FD6}" srcId="{6A85E66B-2D7D-4271-872F-3ACBB5B2776C}" destId="{CB065F05-4D27-47B5-8600-1A6C3F66BACE}" srcOrd="2" destOrd="0" parTransId="{3E60130E-25D7-4051-8678-C92703C1E012}" sibTransId="{A207F2A7-6DC0-4E39-914F-DFF93E22E589}"/>
    <dgm:cxn modelId="{44560CAA-BFA3-4DCA-8307-CEDD5B5CEABA}" srcId="{6A85E66B-2D7D-4271-872F-3ACBB5B2776C}" destId="{479D6879-F540-4D8F-819D-7ACF490BFF11}" srcOrd="0" destOrd="0" parTransId="{68FB4178-1DCF-4B8A-BBEF-1CD2C3B0D103}" sibTransId="{587FAB49-707C-4802-B7FA-A77E1FE0C206}"/>
    <dgm:cxn modelId="{C5372DE7-BD6E-41B8-8FED-442D6E217BBE}" type="presOf" srcId="{6A85E66B-2D7D-4271-872F-3ACBB5B2776C}" destId="{AD7F6EA6-29AD-4774-A09C-D384ED44DB6D}" srcOrd="0" destOrd="0" presId="urn:microsoft.com/office/officeart/2005/8/layout/chevron1"/>
    <dgm:cxn modelId="{B7ABAB55-6A95-4B06-8C92-338206A28502}" type="presOf" srcId="{CB065F05-4D27-47B5-8600-1A6C3F66BACE}" destId="{86685E95-69C2-426F-B4E5-1E03CADD0200}" srcOrd="0" destOrd="0" presId="urn:microsoft.com/office/officeart/2005/8/layout/chevron1"/>
    <dgm:cxn modelId="{B06325E1-D7E4-459F-9438-037198D2C905}" type="presOf" srcId="{479D6879-F540-4D8F-819D-7ACF490BFF11}" destId="{9DAE7D90-E9FF-4C18-A708-DBCA8A267D15}" srcOrd="0" destOrd="0" presId="urn:microsoft.com/office/officeart/2005/8/layout/chevron1"/>
    <dgm:cxn modelId="{2E4D9105-6BC9-4AF8-8658-49C6D491AC5E}" srcId="{6A85E66B-2D7D-4271-872F-3ACBB5B2776C}" destId="{9C2C059D-5857-46F3-AD2E-0FCD480CF349}" srcOrd="4" destOrd="0" parTransId="{A50D7C60-7C77-4AE2-926E-E4489B816A95}" sibTransId="{0B9E370E-6E4C-4069-BC85-B2C7D1ACC6A5}"/>
    <dgm:cxn modelId="{681EDBF4-2C74-4C10-97B2-C529175D02E8}" type="presParOf" srcId="{AD7F6EA6-29AD-4774-A09C-D384ED44DB6D}" destId="{9DAE7D90-E9FF-4C18-A708-DBCA8A267D15}" srcOrd="0" destOrd="0" presId="urn:microsoft.com/office/officeart/2005/8/layout/chevron1"/>
    <dgm:cxn modelId="{9E65543C-4342-4D35-8DF0-9E66C629F9AC}" type="presParOf" srcId="{AD7F6EA6-29AD-4774-A09C-D384ED44DB6D}" destId="{A12E0038-642D-435B-B152-E62805A15871}" srcOrd="1" destOrd="0" presId="urn:microsoft.com/office/officeart/2005/8/layout/chevron1"/>
    <dgm:cxn modelId="{6248F303-7436-42F2-9989-48400953AD02}" type="presParOf" srcId="{AD7F6EA6-29AD-4774-A09C-D384ED44DB6D}" destId="{630F6E75-E4D1-4F28-9795-D25A06F19DBF}" srcOrd="2" destOrd="0" presId="urn:microsoft.com/office/officeart/2005/8/layout/chevron1"/>
    <dgm:cxn modelId="{041BB8C3-7DC8-486F-930A-D564AD223699}" type="presParOf" srcId="{AD7F6EA6-29AD-4774-A09C-D384ED44DB6D}" destId="{E2055195-3DD0-4D63-8D89-12C1AF85AE8B}" srcOrd="3" destOrd="0" presId="urn:microsoft.com/office/officeart/2005/8/layout/chevron1"/>
    <dgm:cxn modelId="{477AFE4F-E014-4962-A03D-24142A152734}" type="presParOf" srcId="{AD7F6EA6-29AD-4774-A09C-D384ED44DB6D}" destId="{86685E95-69C2-426F-B4E5-1E03CADD0200}" srcOrd="4" destOrd="0" presId="urn:microsoft.com/office/officeart/2005/8/layout/chevron1"/>
    <dgm:cxn modelId="{3846B968-F24C-4027-BABB-8302FDDB0C8F}" type="presParOf" srcId="{AD7F6EA6-29AD-4774-A09C-D384ED44DB6D}" destId="{766D6C8F-467C-4B8B-A599-BAA6A6B93A8B}" srcOrd="5" destOrd="0" presId="urn:microsoft.com/office/officeart/2005/8/layout/chevron1"/>
    <dgm:cxn modelId="{AD071AF1-95D5-4960-978E-00E225466CAD}" type="presParOf" srcId="{AD7F6EA6-29AD-4774-A09C-D384ED44DB6D}" destId="{F9FA1C0D-B94C-4474-BE84-EFC88A097BA3}" srcOrd="6" destOrd="0" presId="urn:microsoft.com/office/officeart/2005/8/layout/chevron1"/>
    <dgm:cxn modelId="{15CDB745-9BF5-43F1-9937-CC3E7E3A9F7F}" type="presParOf" srcId="{AD7F6EA6-29AD-4774-A09C-D384ED44DB6D}" destId="{C236CF8D-1DFB-496B-A861-E826E2BDABD8}" srcOrd="7" destOrd="0" presId="urn:microsoft.com/office/officeart/2005/8/layout/chevron1"/>
    <dgm:cxn modelId="{275D09C7-45DF-4279-8F31-049F98412351}" type="presParOf" srcId="{AD7F6EA6-29AD-4774-A09C-D384ED44DB6D}" destId="{5F4BB1B1-72AA-4967-AC2B-68037A0A01D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415ED-E9AC-4A29-9027-E9545304FC5E}">
      <dsp:nvSpPr>
        <dsp:cNvPr id="0" name=""/>
        <dsp:cNvSpPr/>
      </dsp:nvSpPr>
      <dsp:spPr>
        <a:xfrm rot="10800000">
          <a:off x="919123" y="454"/>
          <a:ext cx="2796642" cy="6681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627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Md. Soumik Hasan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Roll: 34</a:t>
          </a:r>
          <a:endParaRPr lang="en-US" sz="1600" kern="1200" dirty="0"/>
        </a:p>
      </dsp:txBody>
      <dsp:txXfrm rot="10800000">
        <a:off x="1086155" y="454"/>
        <a:ext cx="2629610" cy="668129"/>
      </dsp:txXfrm>
    </dsp:sp>
    <dsp:sp modelId="{FAB0CC77-1B1E-4674-A407-802E1986D644}">
      <dsp:nvSpPr>
        <dsp:cNvPr id="0" name=""/>
        <dsp:cNvSpPr/>
      </dsp:nvSpPr>
      <dsp:spPr>
        <a:xfrm>
          <a:off x="561266" y="454"/>
          <a:ext cx="668129" cy="66812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6CF70-E724-4DCE-844E-BFE7152A83E4}">
      <dsp:nvSpPr>
        <dsp:cNvPr id="0" name=""/>
        <dsp:cNvSpPr/>
      </dsp:nvSpPr>
      <dsp:spPr>
        <a:xfrm rot="10800000">
          <a:off x="883435" y="845037"/>
          <a:ext cx="2844226" cy="6681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627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Md. </a:t>
          </a:r>
          <a:r>
            <a:rPr lang="en-US" sz="1600" kern="1200" dirty="0" err="1" smtClean="0"/>
            <a:t>Shariar</a:t>
          </a:r>
          <a:r>
            <a:rPr lang="en-US" sz="1600" kern="1200" dirty="0" smtClean="0"/>
            <a:t> Bin </a:t>
          </a:r>
          <a:r>
            <a:rPr lang="en-US" sz="1600" kern="1200" dirty="0" err="1" smtClean="0"/>
            <a:t>Sajjad</a:t>
          </a:r>
          <a:endParaRPr lang="en-US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Roll: 29</a:t>
          </a:r>
          <a:endParaRPr lang="en-US" sz="1600" kern="1200" dirty="0"/>
        </a:p>
      </dsp:txBody>
      <dsp:txXfrm rot="10800000">
        <a:off x="1050467" y="845037"/>
        <a:ext cx="2677194" cy="668129"/>
      </dsp:txXfrm>
    </dsp:sp>
    <dsp:sp modelId="{886EBF6B-54D1-4968-A7EB-6A3438DDC027}">
      <dsp:nvSpPr>
        <dsp:cNvPr id="0" name=""/>
        <dsp:cNvSpPr/>
      </dsp:nvSpPr>
      <dsp:spPr>
        <a:xfrm>
          <a:off x="549370" y="845037"/>
          <a:ext cx="668129" cy="66812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E7D90-E9FF-4C18-A708-DBCA8A267D15}">
      <dsp:nvSpPr>
        <dsp:cNvPr id="0" name=""/>
        <dsp:cNvSpPr/>
      </dsp:nvSpPr>
      <dsp:spPr>
        <a:xfrm>
          <a:off x="1937" y="18977"/>
          <a:ext cx="1724077" cy="689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Bagging Classifier</a:t>
          </a:r>
          <a:endParaRPr lang="en-US" sz="1800" kern="1200" dirty="0"/>
        </a:p>
      </dsp:txBody>
      <dsp:txXfrm>
        <a:off x="346753" y="18977"/>
        <a:ext cx="1034446" cy="689631"/>
      </dsp:txXfrm>
    </dsp:sp>
    <dsp:sp modelId="{630F6E75-E4D1-4F28-9795-D25A06F19DBF}">
      <dsp:nvSpPr>
        <dsp:cNvPr id="0" name=""/>
        <dsp:cNvSpPr/>
      </dsp:nvSpPr>
      <dsp:spPr>
        <a:xfrm>
          <a:off x="1553607" y="18977"/>
          <a:ext cx="1724077" cy="689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AdaBoost</a:t>
          </a:r>
          <a:endParaRPr lang="en-US" sz="1800" kern="1200" dirty="0"/>
        </a:p>
      </dsp:txBody>
      <dsp:txXfrm>
        <a:off x="1898423" y="18977"/>
        <a:ext cx="1034446" cy="689631"/>
      </dsp:txXfrm>
    </dsp:sp>
    <dsp:sp modelId="{86685E95-69C2-426F-B4E5-1E03CADD0200}">
      <dsp:nvSpPr>
        <dsp:cNvPr id="0" name=""/>
        <dsp:cNvSpPr/>
      </dsp:nvSpPr>
      <dsp:spPr>
        <a:xfrm>
          <a:off x="3105277" y="18977"/>
          <a:ext cx="1724077" cy="689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Gradient Boosting</a:t>
          </a:r>
          <a:endParaRPr lang="en-US" sz="1800" kern="1200" dirty="0"/>
        </a:p>
      </dsp:txBody>
      <dsp:txXfrm>
        <a:off x="3450093" y="18977"/>
        <a:ext cx="1034446" cy="689631"/>
      </dsp:txXfrm>
    </dsp:sp>
    <dsp:sp modelId="{F9FA1C0D-B94C-4474-BE84-EFC88A097BA3}">
      <dsp:nvSpPr>
        <dsp:cNvPr id="0" name=""/>
        <dsp:cNvSpPr/>
      </dsp:nvSpPr>
      <dsp:spPr>
        <a:xfrm>
          <a:off x="4656947" y="18977"/>
          <a:ext cx="1724077" cy="689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Extra Trees</a:t>
          </a:r>
          <a:endParaRPr lang="en-US" sz="1800" kern="1200"/>
        </a:p>
      </dsp:txBody>
      <dsp:txXfrm>
        <a:off x="5001763" y="18977"/>
        <a:ext cx="1034446" cy="689631"/>
      </dsp:txXfrm>
    </dsp:sp>
    <dsp:sp modelId="{5F4BB1B1-72AA-4967-AC2B-68037A0A01D9}">
      <dsp:nvSpPr>
        <dsp:cNvPr id="0" name=""/>
        <dsp:cNvSpPr/>
      </dsp:nvSpPr>
      <dsp:spPr>
        <a:xfrm>
          <a:off x="6208617" y="18977"/>
          <a:ext cx="1724077" cy="689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Decision Tree</a:t>
          </a:r>
          <a:endParaRPr lang="en-US" sz="1800" kern="1200" dirty="0"/>
        </a:p>
      </dsp:txBody>
      <dsp:txXfrm>
        <a:off x="6553433" y="18977"/>
        <a:ext cx="1034446" cy="689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CFD69-0A26-457D-AACF-0B2FB545E36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1137C-D2F1-48D6-9BA3-16CE4964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7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661D-CB77-4EA6-B017-80EAAC9DDF97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23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BD30-BDE2-47EF-BCFF-B3F18309CF09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5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F37A-1632-4EC4-A114-FFB531AAE915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89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E20A1-5A01-4D77-9CB0-C6FDE81BA84C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A433-5DDB-46BF-8EB4-D4B254B7A120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6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D563-D348-4FE0-A4A6-1B4815E60F4E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4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E48CC-E45A-4984-8CAA-6A288D45CB4C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3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595F2F7-FB02-40AE-8042-C5AC2CCA979B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5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04AF-12B5-4F19-9FD4-C70355165608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D52A-B386-4BAD-AC5C-3BE1B8FB40E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3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8378F-5066-4E81-9E49-02F8B7DB7CD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9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E66D34-9DF0-456F-B566-18A2275E197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54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55" y="286604"/>
            <a:ext cx="8006408" cy="1450757"/>
          </a:xfrm>
        </p:spPr>
        <p:txBody>
          <a:bodyPr>
            <a:normAutofit/>
          </a:bodyPr>
          <a:lstStyle/>
          <a:p>
            <a:pPr algn="ctr"/>
            <a:r>
              <a:rPr lang="en-US" sz="4200" b="1" dirty="0">
                <a:solidFill>
                  <a:schemeClr val="accent5">
                    <a:lumMod val="50000"/>
                  </a:schemeClr>
                </a:solidFill>
              </a:rPr>
              <a:t>Air Quality Prediction using Ensemble Classifiers and Single Decision Tree</a:t>
            </a:r>
            <a:endParaRPr sz="4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/>
              <a:t>Authors</a:t>
            </a:r>
            <a:r>
              <a:rPr lang="en-US" sz="2200" b="1" dirty="0"/>
              <a:t>:</a:t>
            </a:r>
            <a:r>
              <a:rPr lang="en-US" sz="2200" dirty="0"/>
              <a:t> Tanisha Madan, </a:t>
            </a:r>
            <a:r>
              <a:rPr lang="en-US" sz="2200" dirty="0" err="1"/>
              <a:t>Shrddha</a:t>
            </a:r>
            <a:r>
              <a:rPr lang="en-US" sz="2200" dirty="0"/>
              <a:t> </a:t>
            </a:r>
            <a:r>
              <a:rPr lang="en-US" sz="2200" dirty="0" err="1"/>
              <a:t>Sagar</a:t>
            </a:r>
            <a:r>
              <a:rPr lang="en-US" sz="2200" dirty="0"/>
              <a:t>, Tien </a:t>
            </a:r>
            <a:r>
              <a:rPr lang="en-US" sz="2200" dirty="0" err="1"/>
              <a:t>Anh</a:t>
            </a:r>
            <a:r>
              <a:rPr lang="en-US" sz="2200" dirty="0"/>
              <a:t> Tran, </a:t>
            </a:r>
            <a:r>
              <a:rPr lang="en-US" sz="2200" dirty="0" err="1"/>
              <a:t>Deepali</a:t>
            </a:r>
            <a:r>
              <a:rPr lang="en-US" sz="2200" dirty="0"/>
              <a:t> </a:t>
            </a:r>
            <a:r>
              <a:rPr lang="en-US" sz="2200" dirty="0" err="1"/>
              <a:t>Virmani</a:t>
            </a:r>
            <a:r>
              <a:rPr lang="en-US" sz="2200" dirty="0"/>
              <a:t>, </a:t>
            </a:r>
            <a:r>
              <a:rPr lang="en-US" sz="2200" dirty="0" err="1"/>
              <a:t>Deependra</a:t>
            </a:r>
            <a:r>
              <a:rPr lang="en-US" sz="2200" dirty="0"/>
              <a:t> </a:t>
            </a:r>
            <a:r>
              <a:rPr lang="en-US" sz="2200" dirty="0" err="1" smtClean="0"/>
              <a:t>Rastogi</a:t>
            </a:r>
            <a:r>
              <a:rPr lang="en-US" sz="2200" dirty="0" smtClean="0"/>
              <a:t>.</a:t>
            </a:r>
            <a:r>
              <a:rPr lang="en-US" sz="2800" dirty="0"/>
              <a:t/>
            </a:r>
            <a:br>
              <a:rPr lang="en-US" sz="2800" dirty="0"/>
            </a:br>
            <a:endParaRPr lang="en-US" sz="1400" dirty="0" smtClean="0"/>
          </a:p>
          <a:p>
            <a:r>
              <a:rPr lang="en-US" sz="2200" b="1" dirty="0" smtClean="0"/>
              <a:t>Published </a:t>
            </a:r>
            <a:r>
              <a:rPr lang="en-US" sz="2200" b="1" dirty="0"/>
              <a:t>in:</a:t>
            </a:r>
            <a:r>
              <a:rPr lang="en-US" sz="2200" dirty="0"/>
              <a:t> Journal of Advanced Research in Applied Sciences and Engineering Technology, </a:t>
            </a:r>
            <a:r>
              <a:rPr lang="en-US" sz="2200" dirty="0" smtClean="0"/>
              <a:t>2025</a:t>
            </a:r>
          </a:p>
          <a:p>
            <a:pPr marL="0" indent="0">
              <a:buNone/>
            </a:pPr>
            <a:r>
              <a:rPr lang="en-US" sz="2800" b="1" u="sng" dirty="0" smtClean="0"/>
              <a:t>Presented by: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200" dirty="0" smtClean="0"/>
              <a:t>	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732327668"/>
              </p:ext>
            </p:extLst>
          </p:nvPr>
        </p:nvGraphicFramePr>
        <p:xfrm>
          <a:off x="255641" y="4198374"/>
          <a:ext cx="4277032" cy="1513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99991" y="3785418"/>
            <a:ext cx="29351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Presented to:</a:t>
            </a:r>
          </a:p>
          <a:p>
            <a:r>
              <a:rPr lang="en-US" sz="2000" dirty="0" smtClean="0"/>
              <a:t>Md. </a:t>
            </a:r>
            <a:r>
              <a:rPr lang="en-US" sz="2000" dirty="0" err="1" smtClean="0"/>
              <a:t>Shariful</a:t>
            </a:r>
            <a:r>
              <a:rPr lang="en-US" sz="2000" dirty="0" smtClean="0"/>
              <a:t> Islam</a:t>
            </a:r>
          </a:p>
          <a:p>
            <a:r>
              <a:rPr lang="en-US" sz="2000" dirty="0" smtClean="0"/>
              <a:t>Lecturer</a:t>
            </a:r>
          </a:p>
          <a:p>
            <a:r>
              <a:rPr lang="en-US" sz="2000" dirty="0" smtClean="0"/>
              <a:t>Department of CSE, DIU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Air </a:t>
            </a:r>
            <a:r>
              <a:rPr lang="en-US" sz="2400" dirty="0"/>
              <a:t>pollution has become a major environmental threat.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</a:t>
            </a:r>
            <a:r>
              <a:rPr sz="2400" dirty="0" smtClean="0"/>
              <a:t>Dataset from </a:t>
            </a:r>
            <a:r>
              <a:rPr sz="2400" dirty="0" err="1" smtClean="0"/>
              <a:t>OpenWeather</a:t>
            </a:r>
            <a:r>
              <a:rPr sz="2400" dirty="0" smtClean="0"/>
              <a:t> API.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</a:t>
            </a:r>
            <a:r>
              <a:rPr sz="2400" dirty="0" smtClean="0"/>
              <a:t>Models: Bagging, Boosting, Extra Trees, Decision Tree.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</a:t>
            </a:r>
            <a:r>
              <a:rPr sz="2400" dirty="0" smtClean="0"/>
              <a:t>Best Accuracy: Gradient Boosting (98.89%).</a:t>
            </a:r>
            <a:endParaRPr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4634"/>
          <a:stretch/>
        </p:blipFill>
        <p:spPr>
          <a:xfrm>
            <a:off x="2434298" y="2379626"/>
            <a:ext cx="4266974" cy="2319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9946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dirty="0" smtClean="0"/>
              <a:t>Pollutants</a:t>
            </a:r>
            <a:r>
              <a:rPr dirty="0"/>
              <a:t>: CO, NO2, SO2, O3, PM2.5, PM10</a:t>
            </a:r>
            <a:r>
              <a:rPr dirty="0" smtClean="0"/>
              <a:t>.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dirty="0" smtClean="0"/>
              <a:t>AQI </a:t>
            </a:r>
            <a:r>
              <a:rPr dirty="0"/>
              <a:t>Levels: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dirty="0" smtClean="0"/>
              <a:t>Dataset size: 5712 rows</a:t>
            </a:r>
            <a:r>
              <a:rPr lang="en-US" dirty="0"/>
              <a:t> from Indian cities (Chandigarh &amp; Visakhapatnam).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Su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(2020)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PM2.5 prediction.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Found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performs better for accuracy.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Kothandaraman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al. (</a:t>
            </a:r>
            <a:r>
              <a:rPr lang="en-AE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2022)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Linear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regression, random forest, KNN,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AdaBoost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results in terms of MAE and RMSE.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Zheng </a:t>
            </a:r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al. (2020</a:t>
            </a:r>
            <a:r>
              <a:rPr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Compared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RF, LR,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Boosting</a:t>
            </a:r>
            <a:endParaRPr lang="en-US" altLang="en-US" sz="1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Ensemble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 outperform traditional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6940"/>
            <a:ext cx="7543800" cy="1450757"/>
          </a:xfrm>
        </p:spPr>
        <p:txBody>
          <a:bodyPr/>
          <a:lstStyle/>
          <a:p>
            <a:r>
              <a:rPr b="1" dirty="0"/>
              <a:t>Methodology Workflow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58" y="1850242"/>
            <a:ext cx="7525536" cy="3287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87802" y="3899113"/>
            <a:ext cx="267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Train-test split (70/30)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667302262"/>
              </p:ext>
            </p:extLst>
          </p:nvPr>
        </p:nvGraphicFramePr>
        <p:xfrm>
          <a:off x="627544" y="5417574"/>
          <a:ext cx="7934632" cy="727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own Arrow 2"/>
          <p:cNvSpPr/>
          <p:nvPr/>
        </p:nvSpPr>
        <p:spPr>
          <a:xfrm>
            <a:off x="2841521" y="4397575"/>
            <a:ext cx="471949" cy="7745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/>
          <p:cNvSpPr>
            <a:spLocks/>
          </p:cNvSpPr>
          <p:nvPr/>
        </p:nvSpPr>
        <p:spPr>
          <a:xfrm rot="16200000">
            <a:off x="4269337" y="1284749"/>
            <a:ext cx="411480" cy="7903337"/>
          </a:xfrm>
          <a:prstGeom prst="rightBrace">
            <a:avLst>
              <a:gd name="adj1" fmla="val 8333"/>
              <a:gd name="adj2" fmla="val 5012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8" name="Rectangle 7"/>
          <p:cNvSpPr/>
          <p:nvPr/>
        </p:nvSpPr>
        <p:spPr>
          <a:xfrm>
            <a:off x="2293447" y="1884533"/>
            <a:ext cx="15313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OpenWeather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1600" dirty="0" smtClean="0">
                <a:solidFill>
                  <a:srgbClr val="000000"/>
                </a:solidFill>
                <a:latin typeface="Arial" panose="020B0604020202020204" pitchFamily="34" charset="0"/>
              </a:rPr>
              <a:t>API</a:t>
            </a:r>
            <a:endParaRPr lang="en-US" sz="16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 Summary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676424"/>
              </p:ext>
            </p:extLst>
          </p:nvPr>
        </p:nvGraphicFramePr>
        <p:xfrm>
          <a:off x="822960" y="2546553"/>
          <a:ext cx="7543800" cy="2591232"/>
        </p:xfrm>
        <a:graphic>
          <a:graphicData uri="http://schemas.openxmlformats.org/drawingml/2006/table">
            <a:tbl>
              <a:tblPr/>
              <a:tblGrid>
                <a:gridCol w="2108050">
                  <a:extLst>
                    <a:ext uri="{9D8B030D-6E8A-4147-A177-3AD203B41FA5}">
                      <a16:colId xmlns:a16="http://schemas.microsoft.com/office/drawing/2014/main" val="953456486"/>
                    </a:ext>
                  </a:extLst>
                </a:gridCol>
                <a:gridCol w="1434513">
                  <a:extLst>
                    <a:ext uri="{9D8B030D-6E8A-4147-A177-3AD203B41FA5}">
                      <a16:colId xmlns:a16="http://schemas.microsoft.com/office/drawing/2014/main" val="1695711747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1020102047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542585105"/>
                    </a:ext>
                  </a:extLst>
                </a:gridCol>
                <a:gridCol w="1346528">
                  <a:extLst>
                    <a:ext uri="{9D8B030D-6E8A-4147-A177-3AD203B41FA5}">
                      <a16:colId xmlns:a16="http://schemas.microsoft.com/office/drawing/2014/main" val="4096783398"/>
                    </a:ext>
                  </a:extLst>
                </a:gridCol>
              </a:tblGrid>
              <a:tr h="431872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Precision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Recall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F1-Score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966833"/>
                  </a:ext>
                </a:extLst>
              </a:tr>
              <a:tr h="431872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Extra Trees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/>
                        <a:t>98.48%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0.9737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0.9752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0.9744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247815"/>
                  </a:ext>
                </a:extLst>
              </a:tr>
              <a:tr h="431872"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b="1"/>
                        <a:t>98.89%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b="1" dirty="0" smtClean="0"/>
                        <a:t>0.9740</a:t>
                      </a:r>
                      <a:endParaRPr lang="en-AE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b="1" dirty="0" smtClean="0"/>
                        <a:t>0.9825</a:t>
                      </a:r>
                      <a:endParaRPr lang="en-AE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000" b="1" dirty="0" smtClean="0"/>
                        <a:t>0.9781</a:t>
                      </a:r>
                      <a:endParaRPr lang="en-AE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993354"/>
                  </a:ext>
                </a:extLst>
              </a:tr>
              <a:tr h="431872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/>
                        <a:t>98.42%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0.9738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0.9639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0.9687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456584"/>
                  </a:ext>
                </a:extLst>
              </a:tr>
              <a:tr h="431872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Bagging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/>
                        <a:t>97.84%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0.9534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0.9564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0.9543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020100"/>
                  </a:ext>
                </a:extLst>
              </a:tr>
              <a:tr h="431872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/>
                        <a:t>AdaBoost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/>
                        <a:t>85.01%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0.4761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0.5946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2000" dirty="0" smtClean="0"/>
                        <a:t>0.5081</a:t>
                      </a:r>
                      <a:endParaRPr lang="en-AE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35927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Confusion Matrix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Gradient Boosting achieved highest performance</a:t>
            </a:r>
            <a:r>
              <a:rPr dirty="0" smtClean="0"/>
              <a:t>.</a:t>
            </a:r>
            <a:endParaRPr lang="en-US" dirty="0" smtClean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478" y="2201765"/>
            <a:ext cx="5230761" cy="41058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Gaps &amp;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0626"/>
            <a:ext cx="48699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latin typeface="Arial" panose="020B0604020202020204" pitchFamily="34" charset="0"/>
              </a:rPr>
              <a:t> Did not </a:t>
            </a:r>
            <a:r>
              <a:rPr lang="en-US" altLang="en-US" sz="2000" dirty="0">
                <a:latin typeface="Arial" panose="020B0604020202020204" pitchFamily="34" charset="0"/>
              </a:rPr>
              <a:t>use </a:t>
            </a:r>
            <a:r>
              <a:rPr lang="en-US" altLang="en-US" sz="2000" dirty="0" err="1">
                <a:latin typeface="Arial" panose="020B0604020202020204" pitchFamily="34" charset="0"/>
              </a:rPr>
              <a:t>hyperparameter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tuning and ROC curve.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latin typeface="Arial" panose="020B0604020202020204" pitchFamily="34" charset="0"/>
              </a:rPr>
              <a:t> Lack </a:t>
            </a:r>
            <a:r>
              <a:rPr lang="en-US" altLang="en-US" sz="2000" dirty="0">
                <a:latin typeface="Arial" panose="020B0604020202020204" pitchFamily="34" charset="0"/>
              </a:rPr>
              <a:t>of Explainable AI (XAI) </a:t>
            </a:r>
            <a:r>
              <a:rPr lang="en-US" altLang="en-US" sz="2000" dirty="0" smtClean="0">
                <a:latin typeface="Arial" panose="020B0604020202020204" pitchFamily="34" charset="0"/>
              </a:rPr>
              <a:t>techniques for </a:t>
            </a:r>
            <a:r>
              <a:rPr lang="en-US" altLang="en-US" sz="2000" dirty="0">
                <a:latin typeface="Arial" panose="020B0604020202020204" pitchFamily="34" charset="0"/>
              </a:rPr>
              <a:t>interpreting model decisions.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latin typeface="Arial" panose="020B0604020202020204" pitchFamily="34" charset="0"/>
              </a:rPr>
              <a:t> Did not </a:t>
            </a:r>
            <a:r>
              <a:rPr lang="en-US" altLang="en-US" sz="2000" dirty="0">
                <a:latin typeface="Arial" panose="020B0604020202020204" pitchFamily="34" charset="0"/>
              </a:rPr>
              <a:t>relate or analyze health risks associated with specific air pollution levels.</a:t>
            </a:r>
          </a:p>
        </p:txBody>
      </p:sp>
      <p:pic>
        <p:nvPicPr>
          <p:cNvPr id="2053" name="Picture 5" descr="What Is A Research Gap | Types, Examples &amp; How to Identif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0" t="1351"/>
          <a:stretch/>
        </p:blipFill>
        <p:spPr bwMode="auto">
          <a:xfrm>
            <a:off x="5694055" y="2189819"/>
            <a:ext cx="2672705" cy="363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Our </a:t>
            </a:r>
            <a:r>
              <a:rPr b="1" dirty="0" smtClean="0"/>
              <a:t>Future </a:t>
            </a:r>
            <a:r>
              <a:rPr b="1" dirty="0"/>
              <a:t>Work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2961" y="2171206"/>
            <a:ext cx="534186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high performance with ML models using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XAI for interpretability and feature importance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Focused solely on AQI prediction, avoiding health-risk assumptions.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clean pollutant-feature dataset for reliable forecasting.</a:t>
            </a:r>
          </a:p>
        </p:txBody>
      </p:sp>
      <p:pic>
        <p:nvPicPr>
          <p:cNvPr id="3076" name="Picture 4" descr="The Many Benefits Of Employees Designing The Future Of Wor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42" r="7965"/>
          <a:stretch/>
        </p:blipFill>
        <p:spPr bwMode="auto">
          <a:xfrm>
            <a:off x="6164826" y="2082716"/>
            <a:ext cx="2281639" cy="3340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Questions we fail to ask | Dennis Iror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35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604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286</TotalTime>
  <Words>371</Words>
  <Application>Microsoft Office PowerPoint</Application>
  <PresentationFormat>On-screen Show (4:3)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Retrospect</vt:lpstr>
      <vt:lpstr>Air Quality Prediction using Ensemble Classifiers and Single Decision Tree</vt:lpstr>
      <vt:lpstr>Abstract</vt:lpstr>
      <vt:lpstr>Introduction</vt:lpstr>
      <vt:lpstr>Literature Review</vt:lpstr>
      <vt:lpstr>Methodology Workflow</vt:lpstr>
      <vt:lpstr>Results Summary</vt:lpstr>
      <vt:lpstr>Confusion Matrix</vt:lpstr>
      <vt:lpstr>Gaps &amp; Limitations</vt:lpstr>
      <vt:lpstr>Our Future Work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Prediction using Ensemble Classifiers and Single Decision Tree</dc:title>
  <dc:subject/>
  <dc:creator>Soumik Hasan</dc:creator>
  <cp:keywords/>
  <dc:description>generated using python-pptx</dc:description>
  <cp:lastModifiedBy>Soumik Hasan</cp:lastModifiedBy>
  <cp:revision>21</cp:revision>
  <dcterms:created xsi:type="dcterms:W3CDTF">2013-01-27T09:14:16Z</dcterms:created>
  <dcterms:modified xsi:type="dcterms:W3CDTF">2025-11-30T09:32:09Z</dcterms:modified>
  <cp:category/>
</cp:coreProperties>
</file>